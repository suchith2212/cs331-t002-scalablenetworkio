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Arimo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11.jpe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21881" y="6892823"/>
            <a:ext cx="2571750" cy="571500"/>
            <a:chOff x="0" y="0"/>
            <a:chExt cx="3429000" cy="762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3429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584" r="0" b="-45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07944" y="6892823"/>
            <a:ext cx="2543175" cy="571500"/>
            <a:chOff x="0" y="0"/>
            <a:chExt cx="3390900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390900" cy="762000"/>
            </a:xfrm>
            <a:custGeom>
              <a:avLst/>
              <a:gdLst/>
              <a:ahLst/>
              <a:cxnLst/>
              <a:rect r="r" b="b" t="t" l="l"/>
              <a:pathLst>
                <a:path h="762000" w="3390900">
                  <a:moveTo>
                    <a:pt x="0" y="0"/>
                  </a:moveTo>
                  <a:lnTo>
                    <a:pt x="3390900" y="0"/>
                  </a:lnTo>
                  <a:lnTo>
                    <a:pt x="33909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625" r="0" b="-462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65431" y="6892823"/>
            <a:ext cx="2643188" cy="571500"/>
            <a:chOff x="0" y="0"/>
            <a:chExt cx="3524250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524250" cy="762000"/>
            </a:xfrm>
            <a:custGeom>
              <a:avLst/>
              <a:gdLst/>
              <a:ahLst/>
              <a:cxnLst/>
              <a:rect r="r" b="b" t="t" l="l"/>
              <a:pathLst>
                <a:path h="762000" w="3524250">
                  <a:moveTo>
                    <a:pt x="0" y="0"/>
                  </a:moveTo>
                  <a:lnTo>
                    <a:pt x="3524250" y="0"/>
                  </a:lnTo>
                  <a:lnTo>
                    <a:pt x="3524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490" r="0" b="-44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22931" y="6892823"/>
            <a:ext cx="2643188" cy="571500"/>
            <a:chOff x="0" y="0"/>
            <a:chExt cx="3524250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524250" cy="762000"/>
            </a:xfrm>
            <a:custGeom>
              <a:avLst/>
              <a:gdLst/>
              <a:ahLst/>
              <a:cxnLst/>
              <a:rect r="r" b="b" t="t" l="l"/>
              <a:pathLst>
                <a:path h="762000" w="3524250">
                  <a:moveTo>
                    <a:pt x="0" y="0"/>
                  </a:moveTo>
                  <a:lnTo>
                    <a:pt x="3524250" y="0"/>
                  </a:lnTo>
                  <a:lnTo>
                    <a:pt x="3524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90" r="0" b="-449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0856" y="2822677"/>
            <a:ext cx="4586288" cy="457200"/>
            <a:chOff x="0" y="0"/>
            <a:chExt cx="611505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115050" cy="609600"/>
            </a:xfrm>
            <a:custGeom>
              <a:avLst/>
              <a:gdLst/>
              <a:ahLst/>
              <a:cxnLst/>
              <a:rect r="r" b="b" t="t" l="l"/>
              <a:pathLst>
                <a:path h="609600" w="6115050">
                  <a:moveTo>
                    <a:pt x="0" y="0"/>
                  </a:moveTo>
                  <a:lnTo>
                    <a:pt x="6115050" y="0"/>
                  </a:lnTo>
                  <a:lnTo>
                    <a:pt x="6115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02" r="0" b="-140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795924" y="7092848"/>
            <a:ext cx="171450" cy="200025"/>
            <a:chOff x="0" y="0"/>
            <a:chExt cx="228600" cy="2667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55" t="0" r="-555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74631" y="7078561"/>
            <a:ext cx="171450" cy="200025"/>
            <a:chOff x="0" y="0"/>
            <a:chExt cx="228600" cy="2667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55" t="0" r="-555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32119" y="7078561"/>
            <a:ext cx="171450" cy="200025"/>
            <a:chOff x="0" y="0"/>
            <a:chExt cx="228600" cy="266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55" t="0" r="-5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89619" y="7078561"/>
            <a:ext cx="171450" cy="200025"/>
            <a:chOff x="0" y="0"/>
            <a:chExt cx="228600" cy="266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55" t="0" r="-555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440907" y="3575152"/>
            <a:ext cx="9406176" cy="183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4"/>
              </a:lnSpc>
            </a:pPr>
            <a:r>
              <a:rPr lang="en-US" sz="6300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Scalable Network I/O:</a:t>
            </a:r>
          </a:p>
          <a:p>
            <a:pPr algn="ctr">
              <a:lnSpc>
                <a:spcPts val="7244"/>
              </a:lnSpc>
            </a:pPr>
            <a:r>
              <a:rPr lang="en-US" sz="6300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 From select to io_uring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64731" y="5596090"/>
            <a:ext cx="11158538" cy="58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Empirical Performance &amp; Architectural Analysis of Linux Socket Multiplexing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94031" y="3036094"/>
            <a:ext cx="8179594" cy="5429250"/>
            <a:chOff x="0" y="0"/>
            <a:chExt cx="10906125" cy="7239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06125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7" r="0" b="-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66206" y="814388"/>
            <a:ext cx="2207419" cy="457200"/>
            <a:chOff x="0" y="0"/>
            <a:chExt cx="2943225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943225" cy="609600"/>
            </a:xfrm>
            <a:custGeom>
              <a:avLst/>
              <a:gdLst/>
              <a:ahLst/>
              <a:cxnLst/>
              <a:rect r="r" b="b" t="t" l="l"/>
              <a:pathLst>
                <a:path h="609600" w="2943225">
                  <a:moveTo>
                    <a:pt x="0" y="0"/>
                  </a:moveTo>
                  <a:lnTo>
                    <a:pt x="2943225" y="0"/>
                  </a:lnTo>
                  <a:lnTo>
                    <a:pt x="2943225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1" t="0" r="-16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08319" y="3050381"/>
            <a:ext cx="8151019" cy="5400675"/>
            <a:chOff x="0" y="0"/>
            <a:chExt cx="10868025" cy="7200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68025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868025">
                  <a:moveTo>
                    <a:pt x="0" y="0"/>
                  </a:moveTo>
                  <a:lnTo>
                    <a:pt x="10868025" y="0"/>
                  </a:lnTo>
                  <a:lnTo>
                    <a:pt x="10868025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12" t="0" r="-151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C10K Concurrency Problem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14375" y="3366268"/>
            <a:ext cx="114300" cy="200025"/>
            <a:chOff x="0" y="0"/>
            <a:chExt cx="152400" cy="2667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14375" y="4724029"/>
            <a:ext cx="114300" cy="200025"/>
            <a:chOff x="0" y="0"/>
            <a:chExt cx="152400" cy="2667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14375" y="6081789"/>
            <a:ext cx="114300" cy="200025"/>
            <a:chOff x="0" y="0"/>
            <a:chExt cx="152400" cy="2667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4375" y="7063159"/>
            <a:ext cx="114300" cy="200025"/>
            <a:chOff x="0" y="0"/>
            <a:chExt cx="152400" cy="2667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14425" y="3261493"/>
            <a:ext cx="7779544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Thread-per-Client Limitation: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Traditional blocking servers spawn a dedicated OS thread per client connection, allocating ~8MB stack space each and quickly exhausting memory limits.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4425" y="4619254"/>
            <a:ext cx="7779544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Context Switch Overhead: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Running thousands of concurrent threads triggers intense CPU context-switching thrashing, destroying cache locality and degrading overall throughput.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4425" y="5977014"/>
            <a:ext cx="7779544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Resource Exhaustion: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Systems run out of memory and CPU cycles long before saturating the physical network bandwidth available.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4425" y="6958384"/>
            <a:ext cx="7779544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Core Architectural Goal: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Shift from blocking multithreading to high-efficiency single-threaded event loops and asynchronous kernel completion queues.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0" y="4093369"/>
            <a:ext cx="1143000" cy="57150"/>
            <a:chOff x="0" y="0"/>
            <a:chExt cx="152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60810" y="4398169"/>
            <a:ext cx="1096637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8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Evolution of Linux I/O Models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43375" y="5507831"/>
            <a:ext cx="100012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Examining the paradigm shift from synchronous readiness polling to zero-syscall asynchronous completion rings.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3554682"/>
            <a:ext cx="8179594" cy="4392063"/>
            <a:chOff x="0" y="0"/>
            <a:chExt cx="10906125" cy="585608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06125" cy="5856097"/>
            </a:xfrm>
            <a:custGeom>
              <a:avLst/>
              <a:gdLst/>
              <a:ahLst/>
              <a:cxnLst/>
              <a:rect r="r" b="b" t="t" l="l"/>
              <a:pathLst>
                <a:path h="5856097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5856097"/>
                  </a:lnTo>
                  <a:lnTo>
                    <a:pt x="0" y="5856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5" r="0" b="-21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3554682"/>
            <a:ext cx="8179594" cy="4392063"/>
            <a:chOff x="0" y="0"/>
            <a:chExt cx="10906125" cy="58560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5856097"/>
            </a:xfrm>
            <a:custGeom>
              <a:avLst/>
              <a:gdLst/>
              <a:ahLst/>
              <a:cxnLst/>
              <a:rect r="r" b="b" t="t" l="l"/>
              <a:pathLst>
                <a:path h="5856097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5856097"/>
                  </a:lnTo>
                  <a:lnTo>
                    <a:pt x="0" y="5856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5" r="0" b="-21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87612" y="814388"/>
            <a:ext cx="2386012" cy="457200"/>
            <a:chOff x="0" y="0"/>
            <a:chExt cx="318135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181350" cy="609600"/>
            </a:xfrm>
            <a:custGeom>
              <a:avLst/>
              <a:gdLst/>
              <a:ahLst/>
              <a:cxnLst/>
              <a:rect r="r" b="b" t="t" l="l"/>
              <a:pathLst>
                <a:path h="609600" w="3181350">
                  <a:moveTo>
                    <a:pt x="0" y="0"/>
                  </a:moveTo>
                  <a:lnTo>
                    <a:pt x="3181350" y="0"/>
                  </a:lnTo>
                  <a:lnTo>
                    <a:pt x="31813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8712" y="3959495"/>
            <a:ext cx="771846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select() Mechanics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8712" y="4464320"/>
            <a:ext cx="7350919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Fixed FD Cap: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Hard-capped at 1,024 file descriptors defined by FD_SETSIZE in the Linux kernel.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8712" y="5388540"/>
            <a:ext cx="7350919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User-Kernel Copies: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Bitmask sets must be fully copied from user space to kernel space on every loop iteration.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712" y="6312770"/>
            <a:ext cx="7350919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O(N) Scans: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Application code must iterate through all socket numbers linearly to find which ones are ready for reading or writing.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8369" y="3959495"/>
            <a:ext cx="771846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poll() Mechanics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08369" y="4464320"/>
            <a:ext cx="7350919" cy="8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Dynamic Arrays: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Uses an array of struct pollfd, successfully removing the 1,024 descriptor limit.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08369" y="5402828"/>
            <a:ext cx="7350919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Memory Re-use: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Separates input events from output results, avoiding full bitmask rebuilds every cycle.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08369" y="6327057"/>
            <a:ext cx="7350919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O(N) Scaling Bottleneck: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Both the kernel and application must still iterate over the entire array per event, causing performance degradation under heavy load.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Synchronous Readiness: select() vs poll()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3819230"/>
            <a:ext cx="5391074" cy="3862978"/>
            <a:chOff x="0" y="0"/>
            <a:chExt cx="7188098" cy="5150637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88073" cy="5150612"/>
            </a:xfrm>
            <a:custGeom>
              <a:avLst/>
              <a:gdLst/>
              <a:ahLst/>
              <a:cxnLst/>
              <a:rect r="r" b="b" t="t" l="l"/>
              <a:pathLst>
                <a:path h="5150612" w="7188073">
                  <a:moveTo>
                    <a:pt x="0" y="0"/>
                  </a:moveTo>
                  <a:lnTo>
                    <a:pt x="7188073" y="0"/>
                  </a:lnTo>
                  <a:lnTo>
                    <a:pt x="7188073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48349" y="3819230"/>
            <a:ext cx="5391074" cy="3862978"/>
            <a:chOff x="0" y="0"/>
            <a:chExt cx="7188098" cy="515063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88073" cy="5150612"/>
            </a:xfrm>
            <a:custGeom>
              <a:avLst/>
              <a:gdLst/>
              <a:ahLst/>
              <a:cxnLst/>
              <a:rect r="r" b="b" t="t" l="l"/>
              <a:pathLst>
                <a:path h="5150612" w="7188073">
                  <a:moveTo>
                    <a:pt x="0" y="0"/>
                  </a:moveTo>
                  <a:lnTo>
                    <a:pt x="7188073" y="0"/>
                  </a:lnTo>
                  <a:lnTo>
                    <a:pt x="7188073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82323" y="3819230"/>
            <a:ext cx="5391302" cy="3862978"/>
            <a:chOff x="0" y="0"/>
            <a:chExt cx="7188403" cy="515063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88454" cy="5150612"/>
            </a:xfrm>
            <a:custGeom>
              <a:avLst/>
              <a:gdLst/>
              <a:ahLst/>
              <a:cxnLst/>
              <a:rect r="r" b="b" t="t" l="l"/>
              <a:pathLst>
                <a:path h="5150612" w="7188454">
                  <a:moveTo>
                    <a:pt x="0" y="0"/>
                  </a:moveTo>
                  <a:lnTo>
                    <a:pt x="7188454" y="0"/>
                  </a:lnTo>
                  <a:lnTo>
                    <a:pt x="7188454" y="5150612"/>
                  </a:lnTo>
                  <a:lnTo>
                    <a:pt x="0" y="515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8" r="0" b="-2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0500" y="814388"/>
            <a:ext cx="2143125" cy="457200"/>
            <a:chOff x="0" y="0"/>
            <a:chExt cx="28575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857500" cy="609600"/>
            </a:xfrm>
            <a:custGeom>
              <a:avLst/>
              <a:gdLst/>
              <a:ahLst/>
              <a:cxnLst/>
              <a:rect r="r" b="b" t="t" l="l"/>
              <a:pathLst>
                <a:path h="609600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28712" y="4233567"/>
            <a:ext cx="742950" cy="742950"/>
            <a:chOff x="0" y="0"/>
            <a:chExt cx="990600" cy="990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61" r="0" b="-96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28712" y="5214642"/>
            <a:ext cx="220527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Red-Black Tree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8712" y="5671842"/>
            <a:ext cx="4562399" cy="15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Monitored sockets are registered once in kernel memory via epoll_ctl(), completely eliminating per-iteration memory copies.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62686" y="4233567"/>
            <a:ext cx="742950" cy="742950"/>
            <a:chOff x="0" y="0"/>
            <a:chExt cx="990600" cy="9906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62686" y="5214642"/>
            <a:ext cx="258032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O(1) Ready Queue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2686" y="5671842"/>
            <a:ext cx="4562399" cy="15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Hardware NIC interrupts populate a ready linked list. epoll_wait() returns only ready sockets in constant O(1) time.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96660" y="4233567"/>
            <a:ext cx="742950" cy="742950"/>
            <a:chOff x="0" y="0"/>
            <a:chExt cx="990600" cy="9906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96660" y="5214642"/>
            <a:ext cx="31653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Edge-Triggered Mode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96660" y="5671842"/>
            <a:ext cx="4562627" cy="15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EPOLLET delivers notifications only on socket state transitions, demanding non-blocking read/write loops until EAGAIN.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1594" y="4447880"/>
            <a:ext cx="357188" cy="314325"/>
            <a:chOff x="0" y="0"/>
            <a:chExt cx="476250" cy="4191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76250" cy="419100"/>
            </a:xfrm>
            <a:custGeom>
              <a:avLst/>
              <a:gdLst/>
              <a:ahLst/>
              <a:cxnLst/>
              <a:rect r="r" b="b" t="t" l="l"/>
              <a:pathLst>
                <a:path h="4191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3" r="0" b="-26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098430" y="4447880"/>
            <a:ext cx="271462" cy="314325"/>
            <a:chOff x="0" y="0"/>
            <a:chExt cx="361950" cy="4191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61950" cy="419100"/>
            </a:xfrm>
            <a:custGeom>
              <a:avLst/>
              <a:gdLst/>
              <a:ahLst/>
              <a:cxnLst/>
              <a:rect r="r" b="b" t="t" l="l"/>
              <a:pathLst>
                <a:path h="41910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43" t="0" r="-343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10973" y="4447880"/>
            <a:ext cx="314325" cy="314325"/>
            <a:chOff x="0" y="0"/>
            <a:chExt cx="419100" cy="4191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Event-Driven Scalability: epoll()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94031" y="3036094"/>
            <a:ext cx="8179594" cy="5429250"/>
            <a:chOff x="0" y="0"/>
            <a:chExt cx="10906125" cy="7239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06125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7" r="0" b="-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87575" y="814388"/>
            <a:ext cx="2686050" cy="457200"/>
            <a:chOff x="0" y="0"/>
            <a:chExt cx="3581400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581400" cy="609600"/>
            </a:xfrm>
            <a:custGeom>
              <a:avLst/>
              <a:gdLst/>
              <a:ahLst/>
              <a:cxnLst/>
              <a:rect r="r" b="b" t="t" l="l"/>
              <a:pathLst>
                <a:path h="609600" w="3581400">
                  <a:moveTo>
                    <a:pt x="0" y="0"/>
                  </a:moveTo>
                  <a:lnTo>
                    <a:pt x="3581400" y="0"/>
                  </a:lnTo>
                  <a:lnTo>
                    <a:pt x="3581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08319" y="3050381"/>
            <a:ext cx="8151019" cy="5400675"/>
            <a:chOff x="0" y="0"/>
            <a:chExt cx="10868025" cy="72009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868025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868025">
                  <a:moveTo>
                    <a:pt x="0" y="0"/>
                  </a:moveTo>
                  <a:lnTo>
                    <a:pt x="10868025" y="0"/>
                  </a:lnTo>
                  <a:lnTo>
                    <a:pt x="10868025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6" r="0" b="-17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14425" y="3449688"/>
            <a:ext cx="7779544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Completion Paradigm: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Moves beyond "readiness notification" (epoll) to executing I/O asynchronously and posting completion events.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4425" y="4807448"/>
            <a:ext cx="7779544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Shared Lockless Rings: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Communicates via two ring buffers—Submission Queue (SQ) and Completion Queue (CQ)—mapped into shared kernel-user memory.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4425" y="6165209"/>
            <a:ext cx="7779544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Zero Syscall Overhead: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Requests and results are submitted and consumed without per-I/O system call context switches.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4425" y="7146579"/>
            <a:ext cx="7779544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Maximum Throughput: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Eliminates kernel-trap latency on hot path execution, enabling peak CPU efficiency at high scale.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True Asynchronous Completion: io_uring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14375" y="3554463"/>
            <a:ext cx="114300" cy="200025"/>
            <a:chOff x="0" y="0"/>
            <a:chExt cx="152400" cy="2667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14375" y="4912223"/>
            <a:ext cx="114300" cy="200025"/>
            <a:chOff x="0" y="0"/>
            <a:chExt cx="152400" cy="2667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14375" y="6269984"/>
            <a:ext cx="114300" cy="200025"/>
            <a:chOff x="0" y="0"/>
            <a:chExt cx="152400" cy="2667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14375" y="7251354"/>
            <a:ext cx="114300" cy="200025"/>
            <a:chOff x="0" y="0"/>
            <a:chExt cx="152400" cy="2667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152400" cy="266700"/>
            </a:xfrm>
            <a:custGeom>
              <a:avLst/>
              <a:gdLst/>
              <a:ahLst/>
              <a:cxnLst/>
              <a:rect r="r" b="b" t="t" l="l"/>
              <a:pathLst>
                <a:path h="2667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3359344"/>
            <a:ext cx="8179594" cy="4782741"/>
            <a:chOff x="0" y="0"/>
            <a:chExt cx="10906125" cy="637698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06125" cy="6376924"/>
            </a:xfrm>
            <a:custGeom>
              <a:avLst/>
              <a:gdLst/>
              <a:ahLst/>
              <a:cxnLst/>
              <a:rect r="r" b="b" t="t" l="l"/>
              <a:pathLst>
                <a:path h="6376924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6376924"/>
                  </a:lnTo>
                  <a:lnTo>
                    <a:pt x="0" y="637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" t="0" r="-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3359344"/>
            <a:ext cx="8179594" cy="4782741"/>
            <a:chOff x="0" y="0"/>
            <a:chExt cx="10906125" cy="637698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6376924"/>
            </a:xfrm>
            <a:custGeom>
              <a:avLst/>
              <a:gdLst/>
              <a:ahLst/>
              <a:cxnLst/>
              <a:rect r="r" b="b" t="t" l="l"/>
              <a:pathLst>
                <a:path h="6376924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6376924"/>
                  </a:lnTo>
                  <a:lnTo>
                    <a:pt x="0" y="6376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37606" y="814388"/>
            <a:ext cx="2436019" cy="457200"/>
            <a:chOff x="0" y="0"/>
            <a:chExt cx="3248025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248025" cy="609600"/>
            </a:xfrm>
            <a:custGeom>
              <a:avLst/>
              <a:gdLst/>
              <a:ahLst/>
              <a:cxnLst/>
              <a:rect r="r" b="b" t="t" l="l"/>
              <a:pathLst>
                <a:path h="609600" w="3248025">
                  <a:moveTo>
                    <a:pt x="0" y="0"/>
                  </a:moveTo>
                  <a:lnTo>
                    <a:pt x="3248025" y="0"/>
                  </a:lnTo>
                  <a:lnTo>
                    <a:pt x="3248025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6" t="0" r="-14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8712" y="3764156"/>
            <a:ext cx="771846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Production C Servers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8712" y="4268981"/>
            <a:ext cx="7350919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5 Complete Implementations: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Built standalone, fully functional C TCP echo servers for Blocking, select, poll, epoll, and io_uring.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8712" y="5193211"/>
            <a:ext cx="7350919" cy="8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Shared Utilities: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Developed common.h for non-blocking socket flag configuration and robust memory safety error handling.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712" y="6131719"/>
            <a:ext cx="7350919" cy="8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Build Pipeline: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Automated build system using GCC with -O3 optimization and strict diagnostic flags.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8369" y="3764156"/>
            <a:ext cx="771846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Testing &amp; Benchmark Harness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08369" y="4268981"/>
            <a:ext cx="7350919" cy="8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Validation Script: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Python test suite (test_servers.py) verifying payload echo integrity and clean socket disconnects.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08369" y="5207498"/>
            <a:ext cx="7350919" cy="121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Async Load Generator: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Custom Python asyncio benchmark script generating up to 5,000 persistent parallel client connections.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08369" y="6522396"/>
            <a:ext cx="7350919" cy="120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Metrics Tracked: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Real-time request throughput (req/s), connection scaling limits, and Resident Set Size (RSS) memory consumption.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Implementation &amp; System Codebase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3326530"/>
            <a:ext cx="16859250" cy="4214812"/>
            <a:chOff x="0" y="0"/>
            <a:chExt cx="22479000" cy="5619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479000" cy="5619750"/>
            </a:xfrm>
            <a:custGeom>
              <a:avLst/>
              <a:gdLst/>
              <a:ahLst/>
              <a:cxnLst/>
              <a:rect r="r" b="b" t="t" l="l"/>
              <a:pathLst>
                <a:path h="561975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5619750"/>
                  </a:lnTo>
                  <a:lnTo>
                    <a:pt x="0" y="561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9" r="0" b="-16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102012" y="814388"/>
            <a:ext cx="1471612" cy="457200"/>
            <a:chOff x="0" y="0"/>
            <a:chExt cx="1962150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962150" cy="609600"/>
            </a:xfrm>
            <a:custGeom>
              <a:avLst/>
              <a:gdLst/>
              <a:ahLst/>
              <a:cxnLst/>
              <a:rect r="r" b="b" t="t" l="l"/>
              <a:pathLst>
                <a:path h="609600" w="1962150">
                  <a:moveTo>
                    <a:pt x="0" y="0"/>
                  </a:moveTo>
                  <a:lnTo>
                    <a:pt x="1962150" y="0"/>
                  </a:lnTo>
                  <a:lnTo>
                    <a:pt x="19621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14375" y="7722318"/>
            <a:ext cx="16859250" cy="45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Suite Summary: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100% Pass Rate across all 5 C server implementations on Linux x86_64.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28662" y="3340818"/>
          <a:ext cx="16802100" cy="4114800"/>
        </p:xfrm>
        <a:graphic>
          <a:graphicData uri="http://schemas.openxmlformats.org/drawingml/2006/table">
            <a:tbl>
              <a:tblPr/>
              <a:tblGrid>
                <a:gridCol w="2629340"/>
                <a:gridCol w="5572917"/>
                <a:gridCol w="6532120"/>
                <a:gridCol w="2067724"/>
              </a:tblGrid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Server Binary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Architecture Type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Verification Criteria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Test Status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server_blocking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Thread-per-client multithreading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Exact payload echo &amp; socket disconnect cleanup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server_select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Synchronous fd_set bitmask multiplexing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Exact payload echo &amp; socket disconnect cleanup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server_poll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Array-based struct pollfd multiplexing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Exact payload echo &amp; socket disconnect cleanup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server_epoll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Edge-triggered O(1) event queue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Exact payload echo &amp; socket disconnect cleanup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server_uring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Async completion ring buffer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Exact payload echo &amp; socket disconnect cleanup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728662" y="4090911"/>
            <a:ext cx="2633815" cy="14288"/>
            <a:chOff x="0" y="0"/>
            <a:chExt cx="3511753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804" cy="19050"/>
            </a:xfrm>
            <a:custGeom>
              <a:avLst/>
              <a:gdLst/>
              <a:ahLst/>
              <a:cxnLst/>
              <a:rect r="r" b="b" t="t" l="l"/>
              <a:pathLst>
                <a:path h="19050" w="3511804">
                  <a:moveTo>
                    <a:pt x="0" y="0"/>
                  </a:moveTo>
                  <a:lnTo>
                    <a:pt x="3511804" y="0"/>
                  </a:lnTo>
                  <a:lnTo>
                    <a:pt x="35118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362477" y="4090911"/>
            <a:ext cx="5582393" cy="14288"/>
            <a:chOff x="0" y="0"/>
            <a:chExt cx="7443191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43216" cy="19050"/>
            </a:xfrm>
            <a:custGeom>
              <a:avLst/>
              <a:gdLst/>
              <a:ahLst/>
              <a:cxnLst/>
              <a:rect r="r" b="b" t="t" l="l"/>
              <a:pathLst>
                <a:path h="19050" w="7443216">
                  <a:moveTo>
                    <a:pt x="0" y="0"/>
                  </a:moveTo>
                  <a:lnTo>
                    <a:pt x="7443216" y="0"/>
                  </a:lnTo>
                  <a:lnTo>
                    <a:pt x="74432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944870" y="4090911"/>
            <a:ext cx="6543227" cy="14288"/>
            <a:chOff x="0" y="0"/>
            <a:chExt cx="8724303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24265" cy="19050"/>
            </a:xfrm>
            <a:custGeom>
              <a:avLst/>
              <a:gdLst/>
              <a:ahLst/>
              <a:cxnLst/>
              <a:rect r="r" b="b" t="t" l="l"/>
              <a:pathLst>
                <a:path h="19050" w="8724265">
                  <a:moveTo>
                    <a:pt x="0" y="0"/>
                  </a:moveTo>
                  <a:lnTo>
                    <a:pt x="8724265" y="0"/>
                  </a:lnTo>
                  <a:lnTo>
                    <a:pt x="87242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488098" y="4090911"/>
            <a:ext cx="2071240" cy="14288"/>
            <a:chOff x="0" y="0"/>
            <a:chExt cx="2761653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61615" cy="19050"/>
            </a:xfrm>
            <a:custGeom>
              <a:avLst/>
              <a:gdLst/>
              <a:ahLst/>
              <a:cxnLst/>
              <a:rect r="r" b="b" t="t" l="l"/>
              <a:pathLst>
                <a:path h="19050" w="2761615">
                  <a:moveTo>
                    <a:pt x="0" y="0"/>
                  </a:moveTo>
                  <a:lnTo>
                    <a:pt x="2761615" y="0"/>
                  </a:lnTo>
                  <a:lnTo>
                    <a:pt x="276161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8662" y="4776711"/>
            <a:ext cx="2633815" cy="14288"/>
            <a:chOff x="0" y="0"/>
            <a:chExt cx="3511753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11804" cy="19050"/>
            </a:xfrm>
            <a:custGeom>
              <a:avLst/>
              <a:gdLst/>
              <a:ahLst/>
              <a:cxnLst/>
              <a:rect r="r" b="b" t="t" l="l"/>
              <a:pathLst>
                <a:path h="19050" w="3511804">
                  <a:moveTo>
                    <a:pt x="0" y="0"/>
                  </a:moveTo>
                  <a:lnTo>
                    <a:pt x="3511804" y="0"/>
                  </a:lnTo>
                  <a:lnTo>
                    <a:pt x="35118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362477" y="4776711"/>
            <a:ext cx="5582393" cy="14288"/>
            <a:chOff x="0" y="0"/>
            <a:chExt cx="7443191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43216" cy="19050"/>
            </a:xfrm>
            <a:custGeom>
              <a:avLst/>
              <a:gdLst/>
              <a:ahLst/>
              <a:cxnLst/>
              <a:rect r="r" b="b" t="t" l="l"/>
              <a:pathLst>
                <a:path h="19050" w="7443216">
                  <a:moveTo>
                    <a:pt x="0" y="0"/>
                  </a:moveTo>
                  <a:lnTo>
                    <a:pt x="7443216" y="0"/>
                  </a:lnTo>
                  <a:lnTo>
                    <a:pt x="74432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44870" y="4776711"/>
            <a:ext cx="6543227" cy="14288"/>
            <a:chOff x="0" y="0"/>
            <a:chExt cx="8724303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24265" cy="19050"/>
            </a:xfrm>
            <a:custGeom>
              <a:avLst/>
              <a:gdLst/>
              <a:ahLst/>
              <a:cxnLst/>
              <a:rect r="r" b="b" t="t" l="l"/>
              <a:pathLst>
                <a:path h="19050" w="8724265">
                  <a:moveTo>
                    <a:pt x="0" y="0"/>
                  </a:moveTo>
                  <a:lnTo>
                    <a:pt x="8724265" y="0"/>
                  </a:lnTo>
                  <a:lnTo>
                    <a:pt x="87242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488098" y="4776711"/>
            <a:ext cx="2071240" cy="14288"/>
            <a:chOff x="0" y="0"/>
            <a:chExt cx="2761653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61615" cy="19050"/>
            </a:xfrm>
            <a:custGeom>
              <a:avLst/>
              <a:gdLst/>
              <a:ahLst/>
              <a:cxnLst/>
              <a:rect r="r" b="b" t="t" l="l"/>
              <a:pathLst>
                <a:path h="19050" w="2761615">
                  <a:moveTo>
                    <a:pt x="0" y="0"/>
                  </a:moveTo>
                  <a:lnTo>
                    <a:pt x="2761615" y="0"/>
                  </a:lnTo>
                  <a:lnTo>
                    <a:pt x="276161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28662" y="5462511"/>
            <a:ext cx="2633815" cy="14288"/>
            <a:chOff x="0" y="0"/>
            <a:chExt cx="3511753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11804" cy="19050"/>
            </a:xfrm>
            <a:custGeom>
              <a:avLst/>
              <a:gdLst/>
              <a:ahLst/>
              <a:cxnLst/>
              <a:rect r="r" b="b" t="t" l="l"/>
              <a:pathLst>
                <a:path h="19050" w="3511804">
                  <a:moveTo>
                    <a:pt x="0" y="0"/>
                  </a:moveTo>
                  <a:lnTo>
                    <a:pt x="3511804" y="0"/>
                  </a:lnTo>
                  <a:lnTo>
                    <a:pt x="35118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362477" y="5462511"/>
            <a:ext cx="5582393" cy="14288"/>
            <a:chOff x="0" y="0"/>
            <a:chExt cx="7443191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43216" cy="19050"/>
            </a:xfrm>
            <a:custGeom>
              <a:avLst/>
              <a:gdLst/>
              <a:ahLst/>
              <a:cxnLst/>
              <a:rect r="r" b="b" t="t" l="l"/>
              <a:pathLst>
                <a:path h="19050" w="7443216">
                  <a:moveTo>
                    <a:pt x="0" y="0"/>
                  </a:moveTo>
                  <a:lnTo>
                    <a:pt x="7443216" y="0"/>
                  </a:lnTo>
                  <a:lnTo>
                    <a:pt x="74432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944870" y="5462511"/>
            <a:ext cx="6543227" cy="14288"/>
            <a:chOff x="0" y="0"/>
            <a:chExt cx="8724303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24265" cy="19050"/>
            </a:xfrm>
            <a:custGeom>
              <a:avLst/>
              <a:gdLst/>
              <a:ahLst/>
              <a:cxnLst/>
              <a:rect r="r" b="b" t="t" l="l"/>
              <a:pathLst>
                <a:path h="19050" w="8724265">
                  <a:moveTo>
                    <a:pt x="0" y="0"/>
                  </a:moveTo>
                  <a:lnTo>
                    <a:pt x="8724265" y="0"/>
                  </a:lnTo>
                  <a:lnTo>
                    <a:pt x="87242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488098" y="5462511"/>
            <a:ext cx="2071240" cy="14288"/>
            <a:chOff x="0" y="0"/>
            <a:chExt cx="2761653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61615" cy="19050"/>
            </a:xfrm>
            <a:custGeom>
              <a:avLst/>
              <a:gdLst/>
              <a:ahLst/>
              <a:cxnLst/>
              <a:rect r="r" b="b" t="t" l="l"/>
              <a:pathLst>
                <a:path h="19050" w="2761615">
                  <a:moveTo>
                    <a:pt x="0" y="0"/>
                  </a:moveTo>
                  <a:lnTo>
                    <a:pt x="2761615" y="0"/>
                  </a:lnTo>
                  <a:lnTo>
                    <a:pt x="276161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28662" y="6148311"/>
            <a:ext cx="2633815" cy="14288"/>
            <a:chOff x="0" y="0"/>
            <a:chExt cx="3511753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11804" cy="19050"/>
            </a:xfrm>
            <a:custGeom>
              <a:avLst/>
              <a:gdLst/>
              <a:ahLst/>
              <a:cxnLst/>
              <a:rect r="r" b="b" t="t" l="l"/>
              <a:pathLst>
                <a:path h="19050" w="3511804">
                  <a:moveTo>
                    <a:pt x="0" y="0"/>
                  </a:moveTo>
                  <a:lnTo>
                    <a:pt x="3511804" y="0"/>
                  </a:lnTo>
                  <a:lnTo>
                    <a:pt x="35118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362477" y="6148311"/>
            <a:ext cx="5582393" cy="14288"/>
            <a:chOff x="0" y="0"/>
            <a:chExt cx="7443191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43216" cy="19050"/>
            </a:xfrm>
            <a:custGeom>
              <a:avLst/>
              <a:gdLst/>
              <a:ahLst/>
              <a:cxnLst/>
              <a:rect r="r" b="b" t="t" l="l"/>
              <a:pathLst>
                <a:path h="19050" w="7443216">
                  <a:moveTo>
                    <a:pt x="0" y="0"/>
                  </a:moveTo>
                  <a:lnTo>
                    <a:pt x="7443216" y="0"/>
                  </a:lnTo>
                  <a:lnTo>
                    <a:pt x="74432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944870" y="6148311"/>
            <a:ext cx="6543227" cy="14288"/>
            <a:chOff x="0" y="0"/>
            <a:chExt cx="8724303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24265" cy="19050"/>
            </a:xfrm>
            <a:custGeom>
              <a:avLst/>
              <a:gdLst/>
              <a:ahLst/>
              <a:cxnLst/>
              <a:rect r="r" b="b" t="t" l="l"/>
              <a:pathLst>
                <a:path h="19050" w="8724265">
                  <a:moveTo>
                    <a:pt x="0" y="0"/>
                  </a:moveTo>
                  <a:lnTo>
                    <a:pt x="8724265" y="0"/>
                  </a:lnTo>
                  <a:lnTo>
                    <a:pt x="87242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488098" y="6148311"/>
            <a:ext cx="2071240" cy="14288"/>
            <a:chOff x="0" y="0"/>
            <a:chExt cx="2761653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61615" cy="19050"/>
            </a:xfrm>
            <a:custGeom>
              <a:avLst/>
              <a:gdLst/>
              <a:ahLst/>
              <a:cxnLst/>
              <a:rect r="r" b="b" t="t" l="l"/>
              <a:pathLst>
                <a:path h="19050" w="2761615">
                  <a:moveTo>
                    <a:pt x="0" y="0"/>
                  </a:moveTo>
                  <a:lnTo>
                    <a:pt x="2761615" y="0"/>
                  </a:lnTo>
                  <a:lnTo>
                    <a:pt x="276161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28662" y="6834111"/>
            <a:ext cx="2633815" cy="14288"/>
            <a:chOff x="0" y="0"/>
            <a:chExt cx="3511753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11804" cy="19050"/>
            </a:xfrm>
            <a:custGeom>
              <a:avLst/>
              <a:gdLst/>
              <a:ahLst/>
              <a:cxnLst/>
              <a:rect r="r" b="b" t="t" l="l"/>
              <a:pathLst>
                <a:path h="19050" w="3511804">
                  <a:moveTo>
                    <a:pt x="0" y="0"/>
                  </a:moveTo>
                  <a:lnTo>
                    <a:pt x="3511804" y="0"/>
                  </a:lnTo>
                  <a:lnTo>
                    <a:pt x="351180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362477" y="6834111"/>
            <a:ext cx="5582393" cy="14288"/>
            <a:chOff x="0" y="0"/>
            <a:chExt cx="7443191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43216" cy="19050"/>
            </a:xfrm>
            <a:custGeom>
              <a:avLst/>
              <a:gdLst/>
              <a:ahLst/>
              <a:cxnLst/>
              <a:rect r="r" b="b" t="t" l="l"/>
              <a:pathLst>
                <a:path h="19050" w="7443216">
                  <a:moveTo>
                    <a:pt x="0" y="0"/>
                  </a:moveTo>
                  <a:lnTo>
                    <a:pt x="7443216" y="0"/>
                  </a:lnTo>
                  <a:lnTo>
                    <a:pt x="744321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944870" y="6834111"/>
            <a:ext cx="6543227" cy="14288"/>
            <a:chOff x="0" y="0"/>
            <a:chExt cx="8724303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24265" cy="19050"/>
            </a:xfrm>
            <a:custGeom>
              <a:avLst/>
              <a:gdLst/>
              <a:ahLst/>
              <a:cxnLst/>
              <a:rect r="r" b="b" t="t" l="l"/>
              <a:pathLst>
                <a:path h="19050" w="8724265">
                  <a:moveTo>
                    <a:pt x="0" y="0"/>
                  </a:moveTo>
                  <a:lnTo>
                    <a:pt x="8724265" y="0"/>
                  </a:lnTo>
                  <a:lnTo>
                    <a:pt x="872426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488098" y="6834111"/>
            <a:ext cx="2071240" cy="14288"/>
            <a:chOff x="0" y="0"/>
            <a:chExt cx="2761653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61615" cy="19050"/>
            </a:xfrm>
            <a:custGeom>
              <a:avLst/>
              <a:gdLst/>
              <a:ahLst/>
              <a:cxnLst/>
              <a:rect r="r" b="b" t="t" l="l"/>
              <a:pathLst>
                <a:path h="19050" w="2761615">
                  <a:moveTo>
                    <a:pt x="0" y="0"/>
                  </a:moveTo>
                  <a:lnTo>
                    <a:pt x="2761615" y="0"/>
                  </a:lnTo>
                  <a:lnTo>
                    <a:pt x="276161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73848" y="4252836"/>
            <a:ext cx="1028700" cy="371475"/>
            <a:chOff x="0" y="0"/>
            <a:chExt cx="1371600" cy="4953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1371600" cy="495300"/>
            </a:xfrm>
            <a:custGeom>
              <a:avLst/>
              <a:gdLst/>
              <a:ahLst/>
              <a:cxnLst/>
              <a:rect r="r" b="b" t="t" l="l"/>
              <a:pathLst>
                <a:path h="4953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12" r="0" b="-12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773848" y="4943399"/>
            <a:ext cx="1028700" cy="371475"/>
            <a:chOff x="0" y="0"/>
            <a:chExt cx="1371600" cy="495300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1371600" cy="495300"/>
            </a:xfrm>
            <a:custGeom>
              <a:avLst/>
              <a:gdLst/>
              <a:ahLst/>
              <a:cxnLst/>
              <a:rect r="r" b="b" t="t" l="l"/>
              <a:pathLst>
                <a:path h="4953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12" r="0" b="-121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5773848" y="5629199"/>
            <a:ext cx="1028700" cy="371475"/>
            <a:chOff x="0" y="0"/>
            <a:chExt cx="1371600" cy="495300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1371600" cy="495300"/>
            </a:xfrm>
            <a:custGeom>
              <a:avLst/>
              <a:gdLst/>
              <a:ahLst/>
              <a:cxnLst/>
              <a:rect r="r" b="b" t="t" l="l"/>
              <a:pathLst>
                <a:path h="4953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12" r="0" b="-121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773848" y="6314999"/>
            <a:ext cx="1028700" cy="371475"/>
            <a:chOff x="0" y="0"/>
            <a:chExt cx="1371600" cy="4953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1371600" cy="495300"/>
            </a:xfrm>
            <a:custGeom>
              <a:avLst/>
              <a:gdLst/>
              <a:ahLst/>
              <a:cxnLst/>
              <a:rect r="r" b="b" t="t" l="l"/>
              <a:pathLst>
                <a:path h="4953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12" r="0" b="-121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773848" y="7000799"/>
            <a:ext cx="1028700" cy="371475"/>
            <a:chOff x="0" y="0"/>
            <a:chExt cx="1371600" cy="495300"/>
          </a:xfrm>
        </p:grpSpPr>
        <p:sp>
          <p:nvSpPr>
            <p:cNvPr name="Freeform 59" id="59" descr="image.png"/>
            <p:cNvSpPr/>
            <p:nvPr/>
          </p:nvSpPr>
          <p:spPr>
            <a:xfrm flipH="false" flipV="false" rot="0">
              <a:off x="0" y="0"/>
              <a:ext cx="1371600" cy="495300"/>
            </a:xfrm>
            <a:custGeom>
              <a:avLst/>
              <a:gdLst/>
              <a:ahLst/>
              <a:cxnLst/>
              <a:rect r="r" b="b" t="t" l="l"/>
              <a:pathLst>
                <a:path h="4953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212" r="0" b="-121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Functional Verification &amp; Correctness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3643312"/>
            <a:ext cx="16859250" cy="4214812"/>
            <a:chOff x="0" y="0"/>
            <a:chExt cx="22479000" cy="5619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479000" cy="5619750"/>
            </a:xfrm>
            <a:custGeom>
              <a:avLst/>
              <a:gdLst/>
              <a:ahLst/>
              <a:cxnLst/>
              <a:rect r="r" b="b" t="t" l="l"/>
              <a:pathLst>
                <a:path h="561975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5619750"/>
                  </a:lnTo>
                  <a:lnTo>
                    <a:pt x="0" y="561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301912" y="814388"/>
            <a:ext cx="2271712" cy="457200"/>
            <a:chOff x="0" y="0"/>
            <a:chExt cx="3028950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028950" cy="609600"/>
            </a:xfrm>
            <a:custGeom>
              <a:avLst/>
              <a:gdLst/>
              <a:ahLst/>
              <a:cxnLst/>
              <a:rect r="r" b="b" t="t" l="l"/>
              <a:pathLst>
                <a:path h="609600" w="3028950">
                  <a:moveTo>
                    <a:pt x="0" y="0"/>
                  </a:moveTo>
                  <a:lnTo>
                    <a:pt x="3028950" y="0"/>
                  </a:lnTo>
                  <a:lnTo>
                    <a:pt x="30289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28662" y="3657600"/>
          <a:ext cx="16783050" cy="4114800"/>
        </p:xfrm>
        <a:graphic>
          <a:graphicData uri="http://schemas.openxmlformats.org/drawingml/2006/table">
            <a:tbl>
              <a:tblPr/>
              <a:tblGrid>
                <a:gridCol w="1902430"/>
                <a:gridCol w="2225214"/>
                <a:gridCol w="2293110"/>
                <a:gridCol w="2293110"/>
                <a:gridCol w="2717851"/>
                <a:gridCol w="5351335"/>
              </a:tblGrid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I/O Model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 Conns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500 Conns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1,000 Conns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5,000 Conns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38BDF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Key Finding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Blocking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27,431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37,707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37,883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32,373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 RSS memory overhead (~12.4 MB)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select()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89,682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117,831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87,445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Hard capped at 1,024 File Descriptors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poll()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78,590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123,672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108,819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77,367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O(N) CPU array scanning penalty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epoll()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75,667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79,541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71,059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56,459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O(1) queue stability (~1.5 MB RSS)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 b="true">
                          <a:solidFill>
                            <a:srgbClr val="94A3B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io_uring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65,636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70,026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64,213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46,399 req/s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94A3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Zero per-I/O system call overhead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728662" y="4407694"/>
            <a:ext cx="1907829" cy="14288"/>
            <a:chOff x="0" y="0"/>
            <a:chExt cx="2543772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3810" cy="19050"/>
            </a:xfrm>
            <a:custGeom>
              <a:avLst/>
              <a:gdLst/>
              <a:ahLst/>
              <a:cxnLst/>
              <a:rect r="r" b="b" t="t" l="l"/>
              <a:pathLst>
                <a:path h="19050" w="2543810">
                  <a:moveTo>
                    <a:pt x="0" y="0"/>
                  </a:moveTo>
                  <a:lnTo>
                    <a:pt x="2543810" y="0"/>
                  </a:lnTo>
                  <a:lnTo>
                    <a:pt x="25438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36491" y="4407694"/>
            <a:ext cx="2231527" cy="14288"/>
            <a:chOff x="0" y="0"/>
            <a:chExt cx="2975369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75356" cy="19050"/>
            </a:xfrm>
            <a:custGeom>
              <a:avLst/>
              <a:gdLst/>
              <a:ahLst/>
              <a:cxnLst/>
              <a:rect r="r" b="b" t="t" l="l"/>
              <a:pathLst>
                <a:path h="19050" w="2975356">
                  <a:moveTo>
                    <a:pt x="0" y="0"/>
                  </a:moveTo>
                  <a:lnTo>
                    <a:pt x="2975356" y="0"/>
                  </a:lnTo>
                  <a:lnTo>
                    <a:pt x="29753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68018" y="4407694"/>
            <a:ext cx="2299621" cy="14288"/>
            <a:chOff x="0" y="0"/>
            <a:chExt cx="3066161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167639" y="4407694"/>
            <a:ext cx="2299621" cy="14288"/>
            <a:chOff x="0" y="0"/>
            <a:chExt cx="3066161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467250" y="4407694"/>
            <a:ext cx="2725560" cy="14288"/>
            <a:chOff x="0" y="0"/>
            <a:chExt cx="3634080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34105" cy="19050"/>
            </a:xfrm>
            <a:custGeom>
              <a:avLst/>
              <a:gdLst/>
              <a:ahLst/>
              <a:cxnLst/>
              <a:rect r="r" b="b" t="t" l="l"/>
              <a:pathLst>
                <a:path h="19050" w="3634105">
                  <a:moveTo>
                    <a:pt x="0" y="0"/>
                  </a:moveTo>
                  <a:lnTo>
                    <a:pt x="3634105" y="0"/>
                  </a:lnTo>
                  <a:lnTo>
                    <a:pt x="36341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92819" y="4407694"/>
            <a:ext cx="5366518" cy="14288"/>
            <a:chOff x="0" y="0"/>
            <a:chExt cx="7155358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55307" cy="19050"/>
            </a:xfrm>
            <a:custGeom>
              <a:avLst/>
              <a:gdLst/>
              <a:ahLst/>
              <a:cxnLst/>
              <a:rect r="r" b="b" t="t" l="l"/>
              <a:pathLst>
                <a:path h="19050" w="7155307">
                  <a:moveTo>
                    <a:pt x="0" y="0"/>
                  </a:moveTo>
                  <a:lnTo>
                    <a:pt x="7155307" y="0"/>
                  </a:lnTo>
                  <a:lnTo>
                    <a:pt x="71553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8662" y="5093494"/>
            <a:ext cx="1907829" cy="14288"/>
            <a:chOff x="0" y="0"/>
            <a:chExt cx="2543772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3810" cy="19050"/>
            </a:xfrm>
            <a:custGeom>
              <a:avLst/>
              <a:gdLst/>
              <a:ahLst/>
              <a:cxnLst/>
              <a:rect r="r" b="b" t="t" l="l"/>
              <a:pathLst>
                <a:path h="19050" w="2543810">
                  <a:moveTo>
                    <a:pt x="0" y="0"/>
                  </a:moveTo>
                  <a:lnTo>
                    <a:pt x="2543810" y="0"/>
                  </a:lnTo>
                  <a:lnTo>
                    <a:pt x="25438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636491" y="5093494"/>
            <a:ext cx="2231527" cy="14288"/>
            <a:chOff x="0" y="0"/>
            <a:chExt cx="2975369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75356" cy="19050"/>
            </a:xfrm>
            <a:custGeom>
              <a:avLst/>
              <a:gdLst/>
              <a:ahLst/>
              <a:cxnLst/>
              <a:rect r="r" b="b" t="t" l="l"/>
              <a:pathLst>
                <a:path h="19050" w="2975356">
                  <a:moveTo>
                    <a:pt x="0" y="0"/>
                  </a:moveTo>
                  <a:lnTo>
                    <a:pt x="2975356" y="0"/>
                  </a:lnTo>
                  <a:lnTo>
                    <a:pt x="29753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868018" y="5093494"/>
            <a:ext cx="2299621" cy="14288"/>
            <a:chOff x="0" y="0"/>
            <a:chExt cx="3066161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67639" y="5093494"/>
            <a:ext cx="2299621" cy="14288"/>
            <a:chOff x="0" y="0"/>
            <a:chExt cx="3066161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467250" y="5093494"/>
            <a:ext cx="2725560" cy="14288"/>
            <a:chOff x="0" y="0"/>
            <a:chExt cx="363408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34105" cy="19050"/>
            </a:xfrm>
            <a:custGeom>
              <a:avLst/>
              <a:gdLst/>
              <a:ahLst/>
              <a:cxnLst/>
              <a:rect r="r" b="b" t="t" l="l"/>
              <a:pathLst>
                <a:path h="19050" w="3634105">
                  <a:moveTo>
                    <a:pt x="0" y="0"/>
                  </a:moveTo>
                  <a:lnTo>
                    <a:pt x="3634105" y="0"/>
                  </a:lnTo>
                  <a:lnTo>
                    <a:pt x="36341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192819" y="5093494"/>
            <a:ext cx="5366518" cy="14288"/>
            <a:chOff x="0" y="0"/>
            <a:chExt cx="7155358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55307" cy="19050"/>
            </a:xfrm>
            <a:custGeom>
              <a:avLst/>
              <a:gdLst/>
              <a:ahLst/>
              <a:cxnLst/>
              <a:rect r="r" b="b" t="t" l="l"/>
              <a:pathLst>
                <a:path h="19050" w="7155307">
                  <a:moveTo>
                    <a:pt x="0" y="0"/>
                  </a:moveTo>
                  <a:lnTo>
                    <a:pt x="7155307" y="0"/>
                  </a:lnTo>
                  <a:lnTo>
                    <a:pt x="71553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28662" y="5779294"/>
            <a:ext cx="1907829" cy="14288"/>
            <a:chOff x="0" y="0"/>
            <a:chExt cx="2543772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43810" cy="19050"/>
            </a:xfrm>
            <a:custGeom>
              <a:avLst/>
              <a:gdLst/>
              <a:ahLst/>
              <a:cxnLst/>
              <a:rect r="r" b="b" t="t" l="l"/>
              <a:pathLst>
                <a:path h="19050" w="2543810">
                  <a:moveTo>
                    <a:pt x="0" y="0"/>
                  </a:moveTo>
                  <a:lnTo>
                    <a:pt x="2543810" y="0"/>
                  </a:lnTo>
                  <a:lnTo>
                    <a:pt x="25438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636491" y="5779294"/>
            <a:ext cx="2231527" cy="14288"/>
            <a:chOff x="0" y="0"/>
            <a:chExt cx="2975369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75356" cy="19050"/>
            </a:xfrm>
            <a:custGeom>
              <a:avLst/>
              <a:gdLst/>
              <a:ahLst/>
              <a:cxnLst/>
              <a:rect r="r" b="b" t="t" l="l"/>
              <a:pathLst>
                <a:path h="19050" w="2975356">
                  <a:moveTo>
                    <a:pt x="0" y="0"/>
                  </a:moveTo>
                  <a:lnTo>
                    <a:pt x="2975356" y="0"/>
                  </a:lnTo>
                  <a:lnTo>
                    <a:pt x="29753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868018" y="5779294"/>
            <a:ext cx="2299621" cy="14288"/>
            <a:chOff x="0" y="0"/>
            <a:chExt cx="3066161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67639" y="5779294"/>
            <a:ext cx="2299621" cy="14288"/>
            <a:chOff x="0" y="0"/>
            <a:chExt cx="3066161" cy="190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467250" y="5779294"/>
            <a:ext cx="2725560" cy="14288"/>
            <a:chOff x="0" y="0"/>
            <a:chExt cx="3634080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34105" cy="19050"/>
            </a:xfrm>
            <a:custGeom>
              <a:avLst/>
              <a:gdLst/>
              <a:ahLst/>
              <a:cxnLst/>
              <a:rect r="r" b="b" t="t" l="l"/>
              <a:pathLst>
                <a:path h="19050" w="3634105">
                  <a:moveTo>
                    <a:pt x="0" y="0"/>
                  </a:moveTo>
                  <a:lnTo>
                    <a:pt x="3634105" y="0"/>
                  </a:lnTo>
                  <a:lnTo>
                    <a:pt x="36341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192819" y="5779294"/>
            <a:ext cx="5366518" cy="14288"/>
            <a:chOff x="0" y="0"/>
            <a:chExt cx="7155358" cy="19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55307" cy="19050"/>
            </a:xfrm>
            <a:custGeom>
              <a:avLst/>
              <a:gdLst/>
              <a:ahLst/>
              <a:cxnLst/>
              <a:rect r="r" b="b" t="t" l="l"/>
              <a:pathLst>
                <a:path h="19050" w="7155307">
                  <a:moveTo>
                    <a:pt x="0" y="0"/>
                  </a:moveTo>
                  <a:lnTo>
                    <a:pt x="7155307" y="0"/>
                  </a:lnTo>
                  <a:lnTo>
                    <a:pt x="71553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28662" y="6465094"/>
            <a:ext cx="1907829" cy="14288"/>
            <a:chOff x="0" y="0"/>
            <a:chExt cx="2543772" cy="19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43810" cy="19050"/>
            </a:xfrm>
            <a:custGeom>
              <a:avLst/>
              <a:gdLst/>
              <a:ahLst/>
              <a:cxnLst/>
              <a:rect r="r" b="b" t="t" l="l"/>
              <a:pathLst>
                <a:path h="19050" w="2543810">
                  <a:moveTo>
                    <a:pt x="0" y="0"/>
                  </a:moveTo>
                  <a:lnTo>
                    <a:pt x="2543810" y="0"/>
                  </a:lnTo>
                  <a:lnTo>
                    <a:pt x="25438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636491" y="6465094"/>
            <a:ext cx="2231527" cy="14288"/>
            <a:chOff x="0" y="0"/>
            <a:chExt cx="2975369" cy="19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75356" cy="19050"/>
            </a:xfrm>
            <a:custGeom>
              <a:avLst/>
              <a:gdLst/>
              <a:ahLst/>
              <a:cxnLst/>
              <a:rect r="r" b="b" t="t" l="l"/>
              <a:pathLst>
                <a:path h="19050" w="2975356">
                  <a:moveTo>
                    <a:pt x="0" y="0"/>
                  </a:moveTo>
                  <a:lnTo>
                    <a:pt x="2975356" y="0"/>
                  </a:lnTo>
                  <a:lnTo>
                    <a:pt x="29753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868018" y="6465094"/>
            <a:ext cx="2299621" cy="14288"/>
            <a:chOff x="0" y="0"/>
            <a:chExt cx="3066161" cy="190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167639" y="6465094"/>
            <a:ext cx="2299621" cy="14288"/>
            <a:chOff x="0" y="0"/>
            <a:chExt cx="3066161" cy="190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67250" y="6465094"/>
            <a:ext cx="2725560" cy="14288"/>
            <a:chOff x="0" y="0"/>
            <a:chExt cx="3634080" cy="190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34105" cy="19050"/>
            </a:xfrm>
            <a:custGeom>
              <a:avLst/>
              <a:gdLst/>
              <a:ahLst/>
              <a:cxnLst/>
              <a:rect r="r" b="b" t="t" l="l"/>
              <a:pathLst>
                <a:path h="19050" w="3634105">
                  <a:moveTo>
                    <a:pt x="0" y="0"/>
                  </a:moveTo>
                  <a:lnTo>
                    <a:pt x="3634105" y="0"/>
                  </a:lnTo>
                  <a:lnTo>
                    <a:pt x="36341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192819" y="6465094"/>
            <a:ext cx="5366518" cy="14288"/>
            <a:chOff x="0" y="0"/>
            <a:chExt cx="7155358" cy="190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155307" cy="19050"/>
            </a:xfrm>
            <a:custGeom>
              <a:avLst/>
              <a:gdLst/>
              <a:ahLst/>
              <a:cxnLst/>
              <a:rect r="r" b="b" t="t" l="l"/>
              <a:pathLst>
                <a:path h="19050" w="7155307">
                  <a:moveTo>
                    <a:pt x="0" y="0"/>
                  </a:moveTo>
                  <a:lnTo>
                    <a:pt x="7155307" y="0"/>
                  </a:lnTo>
                  <a:lnTo>
                    <a:pt x="71553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28662" y="7150894"/>
            <a:ext cx="1907829" cy="14288"/>
            <a:chOff x="0" y="0"/>
            <a:chExt cx="2543772" cy="190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43810" cy="19050"/>
            </a:xfrm>
            <a:custGeom>
              <a:avLst/>
              <a:gdLst/>
              <a:ahLst/>
              <a:cxnLst/>
              <a:rect r="r" b="b" t="t" l="l"/>
              <a:pathLst>
                <a:path h="19050" w="2543810">
                  <a:moveTo>
                    <a:pt x="0" y="0"/>
                  </a:moveTo>
                  <a:lnTo>
                    <a:pt x="2543810" y="0"/>
                  </a:lnTo>
                  <a:lnTo>
                    <a:pt x="25438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636491" y="7150894"/>
            <a:ext cx="2231527" cy="14288"/>
            <a:chOff x="0" y="0"/>
            <a:chExt cx="2975369" cy="190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75356" cy="19050"/>
            </a:xfrm>
            <a:custGeom>
              <a:avLst/>
              <a:gdLst/>
              <a:ahLst/>
              <a:cxnLst/>
              <a:rect r="r" b="b" t="t" l="l"/>
              <a:pathLst>
                <a:path h="19050" w="2975356">
                  <a:moveTo>
                    <a:pt x="0" y="0"/>
                  </a:moveTo>
                  <a:lnTo>
                    <a:pt x="2975356" y="0"/>
                  </a:lnTo>
                  <a:lnTo>
                    <a:pt x="297535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868018" y="7150894"/>
            <a:ext cx="2299621" cy="14288"/>
            <a:chOff x="0" y="0"/>
            <a:chExt cx="3066161" cy="190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167639" y="7150894"/>
            <a:ext cx="2299621" cy="14288"/>
            <a:chOff x="0" y="0"/>
            <a:chExt cx="3066161" cy="190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066161" cy="19050"/>
            </a:xfrm>
            <a:custGeom>
              <a:avLst/>
              <a:gdLst/>
              <a:ahLst/>
              <a:cxnLst/>
              <a:rect r="r" b="b" t="t" l="l"/>
              <a:pathLst>
                <a:path h="19050" w="3066161">
                  <a:moveTo>
                    <a:pt x="0" y="0"/>
                  </a:moveTo>
                  <a:lnTo>
                    <a:pt x="3066161" y="0"/>
                  </a:lnTo>
                  <a:lnTo>
                    <a:pt x="306616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467250" y="7150894"/>
            <a:ext cx="2725560" cy="14288"/>
            <a:chOff x="0" y="0"/>
            <a:chExt cx="3634080" cy="190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34105" cy="19050"/>
            </a:xfrm>
            <a:custGeom>
              <a:avLst/>
              <a:gdLst/>
              <a:ahLst/>
              <a:cxnLst/>
              <a:rect r="r" b="b" t="t" l="l"/>
              <a:pathLst>
                <a:path h="19050" w="3634105">
                  <a:moveTo>
                    <a:pt x="0" y="0"/>
                  </a:moveTo>
                  <a:lnTo>
                    <a:pt x="3634105" y="0"/>
                  </a:lnTo>
                  <a:lnTo>
                    <a:pt x="36341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192819" y="7150894"/>
            <a:ext cx="5366518" cy="14288"/>
            <a:chOff x="0" y="0"/>
            <a:chExt cx="7155358" cy="190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155307" cy="19050"/>
            </a:xfrm>
            <a:custGeom>
              <a:avLst/>
              <a:gdLst/>
              <a:ahLst/>
              <a:cxnLst/>
              <a:rect r="r" b="b" t="t" l="l"/>
              <a:pathLst>
                <a:path h="19050" w="7155307">
                  <a:moveTo>
                    <a:pt x="0" y="0"/>
                  </a:moveTo>
                  <a:lnTo>
                    <a:pt x="7155307" y="0"/>
                  </a:lnTo>
                  <a:lnTo>
                    <a:pt x="71553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467250" y="5272088"/>
            <a:ext cx="1714500" cy="342900"/>
            <a:chOff x="0" y="0"/>
            <a:chExt cx="2286000" cy="457200"/>
          </a:xfrm>
        </p:grpSpPr>
        <p:sp>
          <p:nvSpPr>
            <p:cNvPr name="Freeform 70" id="70" descr="image.png"/>
            <p:cNvSpPr/>
            <p:nvPr/>
          </p:nvSpPr>
          <p:spPr>
            <a:xfrm flipH="false" flipV="false" rot="0">
              <a:off x="0" y="0"/>
              <a:ext cx="228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16" t="0" r="-416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Empirical Performance Benchmarks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3352200"/>
            <a:ext cx="8179594" cy="4797028"/>
            <a:chOff x="0" y="0"/>
            <a:chExt cx="10906125" cy="639603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906125" cy="6395974"/>
            </a:xfrm>
            <a:custGeom>
              <a:avLst/>
              <a:gdLst/>
              <a:ahLst/>
              <a:cxnLst/>
              <a:rect r="r" b="b" t="t" l="l"/>
              <a:pathLst>
                <a:path h="6395974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6395974"/>
                  </a:lnTo>
                  <a:lnTo>
                    <a:pt x="0" y="639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2" r="0" b="-14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3352200"/>
            <a:ext cx="8179594" cy="4797028"/>
            <a:chOff x="0" y="0"/>
            <a:chExt cx="10906125" cy="639603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6395974"/>
            </a:xfrm>
            <a:custGeom>
              <a:avLst/>
              <a:gdLst/>
              <a:ahLst/>
              <a:cxnLst/>
              <a:rect r="r" b="b" t="t" l="l"/>
              <a:pathLst>
                <a:path h="6395974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6395974"/>
                  </a:lnTo>
                  <a:lnTo>
                    <a:pt x="0" y="6395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2" r="0" b="-1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6188" y="814388"/>
            <a:ext cx="2357438" cy="457200"/>
            <a:chOff x="0" y="0"/>
            <a:chExt cx="314325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143250" cy="609600"/>
            </a:xfrm>
            <a:custGeom>
              <a:avLst/>
              <a:gdLst/>
              <a:ahLst/>
              <a:cxnLst/>
              <a:rect r="r" b="b" t="t" l="l"/>
              <a:pathLst>
                <a:path h="609600" w="3143250">
                  <a:moveTo>
                    <a:pt x="0" y="0"/>
                  </a:moveTo>
                  <a:lnTo>
                    <a:pt x="3143250" y="0"/>
                  </a:lnTo>
                  <a:lnTo>
                    <a:pt x="31432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28712" y="3757012"/>
            <a:ext cx="771846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Syscall &amp; CPU Overhead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8712" y="4261837"/>
            <a:ext cx="7350919" cy="121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O(N) CPU Degradation: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select() and poll() suffer from severe CPU overhead under thousands of sockets due to scanning inactive connections.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8712" y="5576735"/>
            <a:ext cx="7350919" cy="8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O(1) Predictability: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epoll maintains constant event processing latency regardless of idle connection counts.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712" y="6515252"/>
            <a:ext cx="7350919" cy="121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Zero-Syscall Batching: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io_uring batches Submission Queue Entries (SQEs), minimizing kernel traps on high-volume I/O pipelines.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8369" y="3757012"/>
            <a:ext cx="771846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Memory Footprint (RSS)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08369" y="4261837"/>
            <a:ext cx="7350919" cy="82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Stack Overhead: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Blocking multithreading consumes ~12.4 MB RSS at high load due to thread stack allocations.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08369" y="5186067"/>
            <a:ext cx="7350919" cy="8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Lightweight Footprint: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epoll maintains a sleek ~1.5 MB RSS footprint even with 5,000 active concurrent connections.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08369" y="6124575"/>
            <a:ext cx="7350919" cy="121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F1F5F9"/>
                </a:solidFill>
                <a:latin typeface="Arimo"/>
                <a:ea typeface="Arimo"/>
                <a:cs typeface="Arimo"/>
                <a:sym typeface="Arimo"/>
              </a:rPr>
              <a:t>FD Limit Wall:</a:t>
            </a: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 select() fails completely past 1,024 file descriptors, rendering it unfit for modern high-density web services.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4375" y="714375"/>
            <a:ext cx="16859250" cy="685800"/>
            <a:chOff x="0" y="0"/>
            <a:chExt cx="224790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7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479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Architectural Trade-offs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3812086"/>
            <a:ext cx="5391074" cy="3877266"/>
            <a:chOff x="0" y="0"/>
            <a:chExt cx="7188098" cy="5169687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188073" cy="5169662"/>
            </a:xfrm>
            <a:custGeom>
              <a:avLst/>
              <a:gdLst/>
              <a:ahLst/>
              <a:cxnLst/>
              <a:rect r="r" b="b" t="t" l="l"/>
              <a:pathLst>
                <a:path h="5169662" w="7188073">
                  <a:moveTo>
                    <a:pt x="0" y="0"/>
                  </a:moveTo>
                  <a:lnTo>
                    <a:pt x="7188073" y="0"/>
                  </a:lnTo>
                  <a:lnTo>
                    <a:pt x="7188073" y="5169662"/>
                  </a:lnTo>
                  <a:lnTo>
                    <a:pt x="0" y="5169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0" r="0" b="-21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48349" y="3812086"/>
            <a:ext cx="5391074" cy="3877266"/>
            <a:chOff x="0" y="0"/>
            <a:chExt cx="7188098" cy="516968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188073" cy="5169662"/>
            </a:xfrm>
            <a:custGeom>
              <a:avLst/>
              <a:gdLst/>
              <a:ahLst/>
              <a:cxnLst/>
              <a:rect r="r" b="b" t="t" l="l"/>
              <a:pathLst>
                <a:path h="5169662" w="7188073">
                  <a:moveTo>
                    <a:pt x="0" y="0"/>
                  </a:moveTo>
                  <a:lnTo>
                    <a:pt x="7188073" y="0"/>
                  </a:lnTo>
                  <a:lnTo>
                    <a:pt x="7188073" y="5169662"/>
                  </a:lnTo>
                  <a:lnTo>
                    <a:pt x="0" y="5169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0" r="0" b="-2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82323" y="3812086"/>
            <a:ext cx="5391302" cy="3877266"/>
            <a:chOff x="0" y="0"/>
            <a:chExt cx="7188403" cy="516968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188454" cy="5169662"/>
            </a:xfrm>
            <a:custGeom>
              <a:avLst/>
              <a:gdLst/>
              <a:ahLst/>
              <a:cxnLst/>
              <a:rect r="r" b="b" t="t" l="l"/>
              <a:pathLst>
                <a:path h="5169662" w="7188454">
                  <a:moveTo>
                    <a:pt x="0" y="0"/>
                  </a:moveTo>
                  <a:lnTo>
                    <a:pt x="7188454" y="0"/>
                  </a:lnTo>
                  <a:lnTo>
                    <a:pt x="7188454" y="5169662"/>
                  </a:lnTo>
                  <a:lnTo>
                    <a:pt x="0" y="5169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2" r="0" b="-21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387638" y="814388"/>
            <a:ext cx="2185988" cy="457200"/>
            <a:chOff x="0" y="0"/>
            <a:chExt cx="291465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914650" cy="609600"/>
            </a:xfrm>
            <a:custGeom>
              <a:avLst/>
              <a:gdLst/>
              <a:ahLst/>
              <a:cxnLst/>
              <a:rect r="r" b="b" t="t" l="l"/>
              <a:pathLst>
                <a:path h="60960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28712" y="4226423"/>
            <a:ext cx="742950" cy="742950"/>
            <a:chOff x="0" y="0"/>
            <a:chExt cx="990600" cy="990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61" r="0" b="-96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28712" y="5207498"/>
            <a:ext cx="285035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Event-Driven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8712" y="5664698"/>
            <a:ext cx="4562399" cy="158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Single-threaded event loops eliminate thread-creation overhead and context switching thrashing, unlocking reliable high concurrency.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62686" y="4226423"/>
            <a:ext cx="742950" cy="742950"/>
            <a:chOff x="0" y="0"/>
            <a:chExt cx="990600" cy="9906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62686" y="5207498"/>
            <a:ext cx="256532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Kernel Structures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2686" y="5664698"/>
            <a:ext cx="4562399" cy="158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In-kernel Red-Black trees and ready lists keep per-socket overhead under a few kilobytes, maximizing memory efficiency.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96660" y="4226423"/>
            <a:ext cx="742950" cy="742950"/>
            <a:chOff x="0" y="0"/>
            <a:chExt cx="990600" cy="9906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96660" y="5207498"/>
            <a:ext cx="30453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Production Standard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96660" y="5664698"/>
            <a:ext cx="4562627" cy="1610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1912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epoll remains the industry benchmark for socket readiness, while io_uring represents the future of async Linux I/O.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1594" y="4440736"/>
            <a:ext cx="357188" cy="314325"/>
            <a:chOff x="0" y="0"/>
            <a:chExt cx="476250" cy="4191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76250" cy="419100"/>
            </a:xfrm>
            <a:custGeom>
              <a:avLst/>
              <a:gdLst/>
              <a:ahLst/>
              <a:cxnLst/>
              <a:rect r="r" b="b" t="t" l="l"/>
              <a:pathLst>
                <a:path h="4191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3" r="0" b="-26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055568" y="4440736"/>
            <a:ext cx="357188" cy="314325"/>
            <a:chOff x="0" y="0"/>
            <a:chExt cx="476250" cy="4191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76250" cy="419100"/>
            </a:xfrm>
            <a:custGeom>
              <a:avLst/>
              <a:gdLst/>
              <a:ahLst/>
              <a:cxnLst/>
              <a:rect r="r" b="b" t="t" l="l"/>
              <a:pathLst>
                <a:path h="4191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3" r="0" b="-2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768110" y="4440736"/>
            <a:ext cx="400050" cy="314325"/>
            <a:chOff x="0" y="0"/>
            <a:chExt cx="533400" cy="4191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33400" cy="419100"/>
            </a:xfrm>
            <a:custGeom>
              <a:avLst/>
              <a:gdLst/>
              <a:ahLst/>
              <a:cxnLst/>
              <a:rect r="r" b="b" t="t" l="l"/>
              <a:pathLst>
                <a:path h="4191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469" r="0" b="-46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4375" y="714375"/>
            <a:ext cx="16859250" cy="820313"/>
            <a:chOff x="0" y="0"/>
            <a:chExt cx="22479000" cy="10937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479000" cy="1093750"/>
            </a:xfrm>
            <a:custGeom>
              <a:avLst/>
              <a:gdLst/>
              <a:ahLst/>
              <a:cxnLst/>
              <a:rect r="r" b="b" t="t" l="l"/>
              <a:pathLst>
                <a:path h="109375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1093750"/>
                  </a:lnTo>
                  <a:lnTo>
                    <a:pt x="0" y="109375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358659" r="0" b="-34226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2479000" cy="1112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1F5F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Core Architectural Takeaways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4375" y="1543050"/>
            <a:ext cx="16859250" cy="28575"/>
            <a:chOff x="0" y="0"/>
            <a:chExt cx="22479000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79000" cy="38100"/>
            </a:xfrm>
            <a:custGeom>
              <a:avLst/>
              <a:gdLst/>
              <a:ahLst/>
              <a:cxnLst/>
              <a:rect r="r" b="b" t="t" l="l"/>
              <a:pathLst>
                <a:path h="38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E2D4A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2356" y="3357562"/>
            <a:ext cx="3443288" cy="457200"/>
            <a:chOff x="0" y="0"/>
            <a:chExt cx="4591050" cy="6096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4591050" cy="609600"/>
            </a:xfrm>
            <a:custGeom>
              <a:avLst/>
              <a:gdLst/>
              <a:ahLst/>
              <a:cxnLst/>
              <a:rect r="r" b="b" t="t" l="l"/>
              <a:pathLst>
                <a:path h="609600" w="4591050">
                  <a:moveTo>
                    <a:pt x="0" y="0"/>
                  </a:moveTo>
                  <a:lnTo>
                    <a:pt x="4591050" y="0"/>
                  </a:lnTo>
                  <a:lnTo>
                    <a:pt x="45910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7" t="0" r="-20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140870" y="4071937"/>
            <a:ext cx="10006251" cy="112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6750" b="true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Questions &amp; Discussion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29150" y="6610350"/>
            <a:ext cx="90297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Full implementation, reports, and benchmark scripts are available in the repository.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486400" y="8472488"/>
            <a:ext cx="7315200" cy="785812"/>
            <a:chOff x="0" y="0"/>
            <a:chExt cx="9753600" cy="10477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97536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87"/>
                </a:lnSpc>
              </a:pPr>
              <a:r>
                <a:rPr lang="en-US" sz="2250">
                  <a:solidFill>
                    <a:srgbClr val="94A3B8"/>
                  </a:solidFill>
                  <a:latin typeface="Arimo"/>
                  <a:ea typeface="Arimo"/>
                  <a:cs typeface="Arimo"/>
                  <a:sym typeface="Arimo"/>
                </a:rPr>
                <a:t>CS331: Computer Networks | Team T002 | Project ID: 13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4114800" y="971550"/>
              <a:ext cx="1524000" cy="76200"/>
              <a:chOff x="0" y="0"/>
              <a:chExt cx="1524000" cy="76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5240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524000">
                    <a:moveTo>
                      <a:pt x="0" y="0"/>
                    </a:moveTo>
                    <a:lnTo>
                      <a:pt x="1524000" y="0"/>
                    </a:lnTo>
                    <a:lnTo>
                      <a:pt x="15240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38BDF8"/>
              </a:solid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DAHU30C6TLk</dc:identifier>
  <dcterms:modified xsi:type="dcterms:W3CDTF">2011-08-01T06:04:30Z</dcterms:modified>
  <cp:revision>1</cp:revision>
  <dc:title>PASSED</dc:title>
</cp:coreProperties>
</file>