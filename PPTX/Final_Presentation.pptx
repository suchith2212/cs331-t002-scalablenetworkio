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" charset="1" panose="02000503000000020004"/>
      <p:regular r:id="rId12"/>
    </p:embeddedFont>
    <p:embeddedFont>
      <p:font typeface="Lora" charset="1" panose="00000500000000000000"/>
      <p:regular r:id="rId13"/>
    </p:embeddedFont>
    <p:embeddedFont>
      <p:font typeface="Times New Roman MT Bold" charset="1" panose="02030802070405020303"/>
      <p:regular r:id="rId14"/>
    </p:embeddedFont>
    <p:embeddedFont>
      <p:font typeface="Inter Bold" charset="1" panose="02000503000000020004"/>
      <p:regular r:id="rId15"/>
    </p:embeddedFont>
    <p:embeddedFont>
      <p:font typeface="Inter Medium" charset="1" panose="02000503000000020004"/>
      <p:regular r:id="rId16"/>
    </p:embeddedFont>
    <p:embeddedFont>
      <p:font typeface="Arimo" charset="1" panose="020B0604020202020204"/>
      <p:regular r:id="rId17"/>
    </p:embeddedFont>
    <p:embeddedFont>
      <p:font typeface="Cinema Outfi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29112" y="1860762"/>
            <a:ext cx="9629775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099" u="sng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CS331: COMPUTER NETWORKS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8368" y="2735158"/>
            <a:ext cx="10111264" cy="302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Scalable Network I/O:</a:t>
            </a:r>
          </a:p>
          <a:p>
            <a:pPr algn="ctr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From </a:t>
            </a:r>
            <a:r>
              <a:rPr lang="en-US" sz="7200">
                <a:solidFill>
                  <a:srgbClr val="10B981"/>
                </a:solidFill>
                <a:latin typeface="Lora"/>
                <a:ea typeface="Lora"/>
                <a:cs typeface="Lora"/>
                <a:sym typeface="Lora"/>
              </a:rPr>
              <a:t>select</a:t>
            </a:r>
            <a:r>
              <a:rPr lang="en-US" sz="7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to </a:t>
            </a:r>
            <a:r>
              <a:rPr lang="en-US" sz="7200">
                <a:solidFill>
                  <a:srgbClr val="38BDF8"/>
                </a:solidFill>
                <a:latin typeface="Lora"/>
                <a:ea typeface="Lora"/>
                <a:cs typeface="Lora"/>
                <a:sym typeface="Lora"/>
              </a:rPr>
              <a:t>io_uring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29112" y="6075552"/>
            <a:ext cx="9629775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Empirical &amp; Architectural Analysis of Linux Socket Multiplexing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16233" y="8067259"/>
            <a:ext cx="118349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Suchith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6388" y="8448259"/>
            <a:ext cx="2643188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Architecture Lead &amp; io_uring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13896" y="8067259"/>
            <a:ext cx="8832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Rohith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12549" y="8448259"/>
            <a:ext cx="1885950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epoll (ET) &amp; Sockets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87979" y="8067259"/>
            <a:ext cx="10480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Harshith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06047" y="8448259"/>
            <a:ext cx="1914525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 &amp; poll Engines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0875" y="8067259"/>
            <a:ext cx="100268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Hanook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28119" y="8448259"/>
            <a:ext cx="1343025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Benchmarking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071812"/>
            <a:ext cx="7843838" cy="5715000"/>
            <a:chOff x="0" y="0"/>
            <a:chExt cx="104584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584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1" t="0" r="-9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1798434"/>
            <a:ext cx="7843838" cy="182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high-concurrency network servers quickly break down under the </a:t>
            </a: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C10K Concurrency Barrier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using traditional paradigms. We set out to solve three core bottlenecks: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8371808"/>
            <a:ext cx="7843838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Objective: Systematically build, profile, and compare 5 distinct Linux TCP socket paradigms from scratch under extreme load (up to 5,000+ connections).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562" y="3838156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" y="3749573"/>
            <a:ext cx="7381875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Thread Stack Exhaustion: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Traditional blocking servers allocate ~8MB per thread. 1,000 connections instantly consume gigabytes of RAM.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5355088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" y="5266506"/>
            <a:ext cx="7381875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Context Switch Thrashing: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CPU wastes over 90% of its cycles swapping registers and invalidating caches instead of serving requests.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562" y="6872021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6783438"/>
            <a:ext cx="7381875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O(N) Syscall Overhead: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Early multiplexers force the kernel to scan every single socket descriptor per event, devastating throughput.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86912" y="3086100"/>
            <a:ext cx="7815262" cy="5686425"/>
            <a:chOff x="0" y="0"/>
            <a:chExt cx="10420350" cy="75819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4203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" t="0" r="-22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1538" y="293484"/>
            <a:ext cx="17372171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 Problem Statement &amp; Objectives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1538" y="1284084"/>
            <a:ext cx="16544925" cy="28575"/>
            <a:chOff x="0" y="0"/>
            <a:chExt cx="2205990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59900" cy="38100"/>
            </a:xfrm>
            <a:custGeom>
              <a:avLst/>
              <a:gdLst/>
              <a:ahLst/>
              <a:cxnLst/>
              <a:rect r="r" b="b" t="t" l="l"/>
              <a:pathLst>
                <a:path h="381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7256488"/>
            <a:ext cx="3805161" cy="2971352"/>
            <a:chOff x="0" y="0"/>
            <a:chExt cx="5073548" cy="396180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073523" cy="3961765"/>
            </a:xfrm>
            <a:custGeom>
              <a:avLst/>
              <a:gdLst/>
              <a:ahLst/>
              <a:cxnLst/>
              <a:rect r="r" b="b" t="t" l="l"/>
              <a:pathLst>
                <a:path h="3961765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3961765"/>
                  </a:lnTo>
                  <a:lnTo>
                    <a:pt x="0" y="3961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1" r="0" b="-1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18049" y="3650675"/>
            <a:ext cx="3805161" cy="2605678"/>
            <a:chOff x="0" y="0"/>
            <a:chExt cx="5073548" cy="347423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073523" cy="3474212"/>
            </a:xfrm>
            <a:custGeom>
              <a:avLst/>
              <a:gdLst/>
              <a:ahLst/>
              <a:cxnLst/>
              <a:rect r="r" b="b" t="t" l="l"/>
              <a:pathLst>
                <a:path h="3474212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3474212"/>
                  </a:lnTo>
                  <a:lnTo>
                    <a:pt x="0" y="3474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" t="0" r="-14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64561" y="7256488"/>
            <a:ext cx="3805161" cy="2605678"/>
            <a:chOff x="0" y="0"/>
            <a:chExt cx="5073548" cy="347423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073523" cy="3474212"/>
            </a:xfrm>
            <a:custGeom>
              <a:avLst/>
              <a:gdLst/>
              <a:ahLst/>
              <a:cxnLst/>
              <a:rect r="r" b="b" t="t" l="l"/>
              <a:pathLst>
                <a:path h="3474212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3474212"/>
                  </a:lnTo>
                  <a:lnTo>
                    <a:pt x="0" y="3474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0" r="0" b="-13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11073" y="3650675"/>
            <a:ext cx="3805161" cy="2605678"/>
            <a:chOff x="0" y="0"/>
            <a:chExt cx="5073548" cy="347423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073523" cy="3474212"/>
            </a:xfrm>
            <a:custGeom>
              <a:avLst/>
              <a:gdLst/>
              <a:ahLst/>
              <a:cxnLst/>
              <a:rect r="r" b="b" t="t" l="l"/>
              <a:pathLst>
                <a:path h="3474212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3474212"/>
                  </a:lnTo>
                  <a:lnTo>
                    <a:pt x="0" y="3474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1538" y="2096462"/>
            <a:ext cx="12858750" cy="95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understand the paradigm shift, we engineered five standalone C TCP servers, moving from synchronous readiness polling to zero-syscall asynchronous completion rings.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71538" y="6727850"/>
            <a:ext cx="16544925" cy="57150"/>
            <a:chOff x="0" y="0"/>
            <a:chExt cx="220599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59900" cy="76200"/>
            </a:xfrm>
            <a:custGeom>
              <a:avLst/>
              <a:gdLst/>
              <a:ahLst/>
              <a:cxnLst/>
              <a:rect r="r" b="b" t="t" l="l"/>
              <a:pathLst>
                <a:path h="762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91451" y="7556525"/>
            <a:ext cx="336534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EF4444"/>
                </a:solidFill>
                <a:latin typeface="Cinema Outfit"/>
                <a:ea typeface="Cinema Outfit"/>
                <a:cs typeface="Cinema Outfit"/>
                <a:sym typeface="Cinema Outfit"/>
              </a:rPr>
              <a:t>1. Blocking I/O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575" y="8032775"/>
            <a:ext cx="3205086" cy="189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Thread-per-client model. Spawns via pthread_create(). Incurs massive memory and scheduling overhead.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37962" y="3950713"/>
            <a:ext cx="336534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F59E0B"/>
                </a:solidFill>
                <a:latin typeface="Cinema Outfit"/>
                <a:ea typeface="Cinema Outfit"/>
                <a:cs typeface="Cinema Outfit"/>
                <a:sym typeface="Cinema Outfit"/>
              </a:rPr>
              <a:t>2. select &amp; poll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18087" y="4426963"/>
            <a:ext cx="3205086" cy="15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Synchronous readiness. Iterates arrays in </a:t>
            </a:r>
            <a:r>
              <a:rPr lang="en-US" sz="180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O(N)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time. select hits a strict 1024 FD cap.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4474" y="7556525"/>
            <a:ext cx="336534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3. epoll (ET)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64598" y="8032775"/>
            <a:ext cx="3205086" cy="15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Uses kernel Red-Black Trees for </a:t>
            </a:r>
            <a:r>
              <a:rPr lang="en-US" sz="180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O(1)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ready lists. Edge-Triggered mode highly optimizes throughput.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30986" y="3950713"/>
            <a:ext cx="336534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4. io_uring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11110" y="4426963"/>
            <a:ext cx="3205086" cy="15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Asynchronous Completion. Uses shared memory Ring Buffers (SQ/CQ) to achieve </a:t>
            </a:r>
            <a:r>
              <a:rPr lang="en-US" sz="180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Zero per-I/O Syscalls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74093" y="6556400"/>
            <a:ext cx="400050" cy="400050"/>
            <a:chOff x="0" y="0"/>
            <a:chExt cx="53340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20605" y="6556400"/>
            <a:ext cx="400050" cy="400050"/>
            <a:chOff x="0" y="0"/>
            <a:chExt cx="5334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067117" y="6556400"/>
            <a:ext cx="400050" cy="400050"/>
            <a:chOff x="0" y="0"/>
            <a:chExt cx="53340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313628" y="6556400"/>
            <a:ext cx="400050" cy="400050"/>
            <a:chOff x="0" y="0"/>
            <a:chExt cx="53340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871538" y="852488"/>
            <a:ext cx="17372171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Architecture &amp; Mechanism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71538" y="1843088"/>
            <a:ext cx="16544925" cy="28575"/>
            <a:chOff x="0" y="0"/>
            <a:chExt cx="2205990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59900" cy="38100"/>
            </a:xfrm>
            <a:custGeom>
              <a:avLst/>
              <a:gdLst/>
              <a:ahLst/>
              <a:cxnLst/>
              <a:rect r="r" b="b" t="t" l="l"/>
              <a:pathLst>
                <a:path h="381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52473"/>
            <a:ext cx="7843838" cy="7953670"/>
            <a:chOff x="0" y="0"/>
            <a:chExt cx="10458450" cy="1060489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58450" cy="10604881"/>
            </a:xfrm>
            <a:custGeom>
              <a:avLst/>
              <a:gdLst/>
              <a:ahLst/>
              <a:cxnLst/>
              <a:rect r="r" b="b" t="t" l="l"/>
              <a:pathLst>
                <a:path h="10604881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0604881"/>
                  </a:lnTo>
                  <a:lnTo>
                    <a:pt x="0" y="10604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1952473"/>
            <a:ext cx="7843838" cy="7953670"/>
            <a:chOff x="0" y="0"/>
            <a:chExt cx="10458450" cy="106048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58450" cy="10604881"/>
            </a:xfrm>
            <a:custGeom>
              <a:avLst/>
              <a:gdLst/>
              <a:ahLst/>
              <a:cxnLst/>
              <a:rect r="r" b="b" t="t" l="l"/>
              <a:pathLst>
                <a:path h="10604881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0604881"/>
                  </a:lnTo>
                  <a:lnTo>
                    <a:pt x="0" y="10604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19262" y="2538260"/>
            <a:ext cx="575312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Lora"/>
                <a:ea typeface="Lora"/>
                <a:cs typeface="Lora"/>
                <a:sym typeface="Lora"/>
              </a:rPr>
              <a:t>Harness &amp; Verification Built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25" y="3166910"/>
            <a:ext cx="6672262" cy="95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built custom Python tools extending the C server codebase to ensure rigorous functional validation: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0350" y="2538260"/>
            <a:ext cx="599744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Lora"/>
                <a:ea typeface="Lora"/>
                <a:cs typeface="Lora"/>
                <a:sym typeface="Lora"/>
              </a:rPr>
              <a:t>Empirical Evaluation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58412" y="3166910"/>
            <a:ext cx="6672262" cy="95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benchmark revealed distinct architectural advantages across different scales: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89420" y="2595410"/>
            <a:ext cx="392906" cy="400050"/>
            <a:chOff x="0" y="0"/>
            <a:chExt cx="523875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23875" cy="533400"/>
            </a:xfrm>
            <a:custGeom>
              <a:avLst/>
              <a:gdLst/>
              <a:ahLst/>
              <a:cxnLst/>
              <a:rect r="r" b="b" t="t" l="l"/>
              <a:pathLst>
                <a:path h="533400" w="523875">
                  <a:moveTo>
                    <a:pt x="0" y="0"/>
                  </a:moveTo>
                  <a:lnTo>
                    <a:pt x="523875" y="0"/>
                  </a:lnTo>
                  <a:lnTo>
                    <a:pt x="52387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1" r="0" b="-85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57350" y="4338218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9288" y="4249636"/>
            <a:ext cx="6210300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Automated Test Suite: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Developed test_servers.py to verify exact payload echo integrity across all 5 engines.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7350" y="5855151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9288" y="5766568"/>
            <a:ext cx="6210300" cy="182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Async Load Generator: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Created benchmark.py utilizing Python's asyncio to generate 5,000+ persistent connections without client-side bottlenecking.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" y="7806290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9288" y="7717707"/>
            <a:ext cx="6210300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Result: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Achieved a 100% test pass rate and resolved memory leak bugs during socket cleanup phases.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61959" y="2595410"/>
            <a:ext cx="392906" cy="400050"/>
            <a:chOff x="0" y="0"/>
            <a:chExt cx="523875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23875" cy="533400"/>
            </a:xfrm>
            <a:custGeom>
              <a:avLst/>
              <a:gdLst/>
              <a:ahLst/>
              <a:cxnLst/>
              <a:rect r="r" b="b" t="t" l="l"/>
              <a:pathLst>
                <a:path h="533400" w="523875">
                  <a:moveTo>
                    <a:pt x="0" y="0"/>
                  </a:moveTo>
                  <a:lnTo>
                    <a:pt x="523875" y="0"/>
                  </a:lnTo>
                  <a:lnTo>
                    <a:pt x="52387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61" r="0" b="-85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58438" y="4338218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20375" y="4249636"/>
            <a:ext cx="6210300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Small Scale Peak: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poll() achieved the highest peak throughput (59k req/s at 100 conns) due to low structural overhead for small arrays.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8438" y="5855151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20375" y="5766568"/>
            <a:ext cx="6210300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The select() Crash: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Confirmed select() completely drops traffic beyond 1024 connections due to the FD_SETSIZE hard limit.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58438" y="7372083"/>
            <a:ext cx="1571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20375" y="7283501"/>
            <a:ext cx="6210300" cy="13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High Scale Stability: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epoll() proved to be the most stable, sustaining 28.1k req/s at the 5,000 connection mark.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1538" y="361798"/>
            <a:ext cx="17372171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Extension, Issues Fixed &amp; Evaluation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71538" y="1352398"/>
            <a:ext cx="16544925" cy="28575"/>
            <a:chOff x="0" y="0"/>
            <a:chExt cx="22059900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59900" cy="38100"/>
            </a:xfrm>
            <a:custGeom>
              <a:avLst/>
              <a:gdLst/>
              <a:ahLst/>
              <a:cxnLst/>
              <a:rect r="r" b="b" t="t" l="l"/>
              <a:pathLst>
                <a:path h="381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2009404"/>
            <a:ext cx="15830550" cy="51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Comparison of Performance, Scalability (Memory footprint), and Reliability limits at a load of </a:t>
            </a:r>
            <a:r>
              <a:rPr lang="en-US" sz="2137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5,000 persistent connections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4394" y="2736504"/>
            <a:ext cx="16559212" cy="7034365"/>
            <a:chOff x="0" y="0"/>
            <a:chExt cx="22078950" cy="93791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78950" cy="9379204"/>
            </a:xfrm>
            <a:custGeom>
              <a:avLst/>
              <a:gdLst/>
              <a:ahLst/>
              <a:cxnLst/>
              <a:rect r="r" b="b" t="t" l="l"/>
              <a:pathLst>
                <a:path h="9379204" w="22078950">
                  <a:moveTo>
                    <a:pt x="0" y="0"/>
                  </a:moveTo>
                  <a:lnTo>
                    <a:pt x="22078950" y="0"/>
                  </a:lnTo>
                  <a:lnTo>
                    <a:pt x="22078950" y="9379204"/>
                  </a:lnTo>
                  <a:lnTo>
                    <a:pt x="0" y="9379204"/>
                  </a:lnTo>
                </a:path>
              </a:pathLst>
            </a:custGeom>
            <a:solidFill>
              <a:srgbClr val="1E293B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71538" y="2743646"/>
          <a:ext cx="16516350" cy="6972300"/>
        </p:xfrm>
        <a:graphic>
          <a:graphicData uri="http://schemas.openxmlformats.org/drawingml/2006/table">
            <a:tbl>
              <a:tblPr/>
              <a:tblGrid>
                <a:gridCol w="2817798"/>
                <a:gridCol w="5168490"/>
                <a:gridCol w="5060629"/>
                <a:gridCol w="3469432"/>
              </a:tblGrid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8BDF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I/O Paradigm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8BDF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Performance (Throughput)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8BDF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Scalability (VmRSS Memory)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8BDF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Reliability Limits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Blocking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Degraded (3,984 req/s)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Poor (26.8 MB)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thread crash risk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select()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Good (at low scale)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 (1.2 MB)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</a:t>
                      </a:r>
                      <a:r>
                        <a:rPr lang="en-US" sz="2137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Fails at 1024 FDs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poll()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Peak High (26,569 req/s)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 (1.2 MB)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O(N) CPU strain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epoll (ET)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Stable (28,142 req/s)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(1.5 MB)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Production Standard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io_uring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(21,543 req/s)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 (2.0 MB)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Zero-syscall stability</a:t>
                      </a:r>
                      <a:endParaRPr lang="en-US" sz="1100"/>
                    </a:p>
                  </a:txBody>
                  <a:tcPr marL="68329" marR="68329" marT="68329" marB="68329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4019823" y="5540873"/>
            <a:ext cx="271462" cy="271462"/>
            <a:chOff x="0" y="0"/>
            <a:chExt cx="361950" cy="3619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8" y="504454"/>
            <a:ext cx="17372171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 Non-Functional Testing Parameters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1538" y="1495054"/>
            <a:ext cx="16544925" cy="28575"/>
            <a:chOff x="0" y="0"/>
            <a:chExt cx="220599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59900" cy="38100"/>
            </a:xfrm>
            <a:custGeom>
              <a:avLst/>
              <a:gdLst/>
              <a:ahLst/>
              <a:cxnLst/>
              <a:rect r="r" b="b" t="t" l="l"/>
              <a:pathLst>
                <a:path h="381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429000"/>
            <a:ext cx="7843838" cy="5000625"/>
            <a:chOff x="0" y="0"/>
            <a:chExt cx="10458450" cy="666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5845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1" t="0" r="-9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4475" y="1399956"/>
            <a:ext cx="7200900" cy="26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select() FD_SETSIZE Hard Cap: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Our initial `select` server crashed violently when load testing exceeded 1024 connections. We had to implement an explicit guard check if (client_fd &gt;= FD_SETSIZE) to cleanly reject overflow connections and prevent stack corruption.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4475" y="4362374"/>
            <a:ext cx="7200900" cy="26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Draining Edge-Triggered Buffers: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Because `epoll` was configured in Edge-Triggered (EPOLLET) mode, it only notifies state transitions once. We learned the hard way that missing a while(1) read loop until EAGAIN leaves payload bytes stuck in socket buffers forever, breaking the server.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4475" y="7324801"/>
            <a:ext cx="7200900" cy="26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io_uring Complexity &amp; State Tracking: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Unlike readiness models, completion queues are fully asynchronous. Managing application state between the Submission Queue (SQ) and Completion Queue (CQ) required building a robust custom struct conn_info linked via io_uring_sqe_set_data().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86912" y="3443288"/>
            <a:ext cx="7815262" cy="4972050"/>
            <a:chOff x="0" y="0"/>
            <a:chExt cx="10420350" cy="66294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420350" cy="6629400"/>
            </a:xfrm>
            <a:custGeom>
              <a:avLst/>
              <a:gdLst/>
              <a:ahLst/>
              <a:cxnLst/>
              <a:rect r="r" b="b" t="t" l="l"/>
              <a:pathLst>
                <a:path h="66294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1538" y="1514256"/>
            <a:ext cx="342900" cy="371475"/>
            <a:chOff x="0" y="0"/>
            <a:chExt cx="457200" cy="4953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1538" y="4476674"/>
            <a:ext cx="428625" cy="371475"/>
            <a:chOff x="0" y="0"/>
            <a:chExt cx="571500" cy="4953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5715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1538" y="7439101"/>
            <a:ext cx="342900" cy="371475"/>
            <a:chOff x="0" y="0"/>
            <a:chExt cx="457200" cy="4953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71538" y="-104994"/>
            <a:ext cx="17372171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5. Key Technical Challenges Faced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1538" y="885606"/>
            <a:ext cx="16544925" cy="28575"/>
            <a:chOff x="0" y="0"/>
            <a:chExt cx="220599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59900" cy="38100"/>
            </a:xfrm>
            <a:custGeom>
              <a:avLst/>
              <a:gdLst/>
              <a:ahLst/>
              <a:cxnLst/>
              <a:rect r="r" b="b" t="t" l="l"/>
              <a:pathLst>
                <a:path h="381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DAHU30C6TLk</dc:identifier>
  <dcterms:modified xsi:type="dcterms:W3CDTF">2011-08-01T06:04:30Z</dcterms:modified>
  <cp:revision>1</cp:revision>
  <dc:title>CN_PPTX_Final</dc:title>
</cp:coreProperties>
</file>